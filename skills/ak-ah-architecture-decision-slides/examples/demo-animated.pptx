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Basis: example
Volledig fictieve demonstratie. Geen gemeten wachttijd, omzetimpact of ROI beschikbaar. De bron voor dit voorbeeld is uitsluitend de voorbeeldbeschrijving.
Sources: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Basis: example
Voorbeeld van een mogelijke richting. Er wordt geen technische transportkeuze of gegarandeerde doorlooptijd voorgeschreven.
Sources: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Basis: example
Kwalitatieve vergelijking van fictieve opties. Geen gewogen totaalscore of ROI verzonnen; nader onderzoek moet de trade-offs kwantificeren.
Sources: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Basis: example
Logisch interactiemodel, geen claim over bewezen deployments of een gekozen eventplatform. De volledige handout en geanimeerde variant gebruiken dezelfde componenten en posities.
Sources: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Basis: example
De modelposities zijn exact dezelfde als op de vorige slide. De tabel geeft onderzoeksvragen weer, geen meetresultaten.
Sources: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Basis: example
Voorbeeldbesluit. Eigenaar, datum, budget en succesgrenzen zijn bewust niet ingevuld omdat daar geen feiten voor zijn aangeleverd.
Sources: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lbert Heij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92608"/>
            <a:ext cx="493776" cy="493776"/>
          </a:xfrm>
          <a:prstGeom prst="rect">
            <a:avLst/>
          </a:prstGeom>
        </p:spPr>
      </p:pic>
      <p:sp>
        <p:nvSpPr>
          <p:cNvPr id="3" name="static::1"/>
          <p:cNvSpPr/>
          <p:nvPr/>
        </p:nvSpPr>
        <p:spPr>
          <a:xfrm>
            <a:off x="1344168" y="45720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WAAROM DIT EEN BUSINESSKEUZE IS</a:t>
            </a:r>
            <a:endParaRPr lang="en-US" sz="1000" dirty="0"/>
          </a:p>
        </p:txBody>
      </p:sp>
      <p:sp>
        <p:nvSpPr>
          <p:cNvPr id="4" name="static::2"/>
          <p:cNvSpPr/>
          <p:nvPr/>
        </p:nvSpPr>
        <p:spPr>
          <a:xfrm>
            <a:off x="9875520" y="457200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000" dirty="0"/>
          </a:p>
        </p:txBody>
      </p:sp>
      <p:sp>
        <p:nvSpPr>
          <p:cNvPr id="5" name="static::3"/>
          <p:cNvSpPr/>
          <p:nvPr/>
        </p:nvSpPr>
        <p:spPr>
          <a:xfrm>
            <a:off x="640080" y="1069848"/>
            <a:ext cx="109179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nachtbatch bepaalt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wanneer de klant iets weet.</a:t>
            </a:r>
            <a:endParaRPr lang="en-US" sz="3200" dirty="0"/>
          </a:p>
        </p:txBody>
      </p:sp>
      <p:sp>
        <p:nvSpPr>
          <p:cNvPr id="6" name="takeaway::4"/>
          <p:cNvSpPr/>
          <p:nvPr/>
        </p:nvSpPr>
        <p:spPr>
          <a:xfrm>
            <a:off x="640080" y="5760720"/>
            <a:ext cx="10917936" cy="521208"/>
          </a:xfrm>
          <a:prstGeom prst="rect">
            <a:avLst/>
          </a:prstGeom>
          <a:solidFill>
            <a:srgbClr val="003B67"/>
          </a:solidFill>
          <a:ln w="10160">
            <a:solidFill>
              <a:srgbClr val="003B67"/>
            </a:solidFill>
            <a:prstDash val="solid"/>
          </a:ln>
        </p:spPr>
      </p:sp>
      <p:sp>
        <p:nvSpPr>
          <p:cNvPr id="7" name="takeaway::5"/>
          <p:cNvSpPr/>
          <p:nvPr/>
        </p:nvSpPr>
        <p:spPr>
          <a:xfrm>
            <a:off x="859536" y="5888736"/>
            <a:ext cx="104790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technisch knelpunt krijgt betekenis door de klantbelofte die het beperkt.</a:t>
            </a:r>
            <a:endParaRPr lang="en-US" sz="1600" dirty="0"/>
          </a:p>
        </p:txBody>
      </p:sp>
      <p:sp>
        <p:nvSpPr>
          <p:cNvPr id="8" name="static::6"/>
          <p:cNvSpPr/>
          <p:nvPr/>
        </p:nvSpPr>
        <p:spPr>
          <a:xfrm>
            <a:off x="640080" y="6492240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 · ARCHITECTUURBESLUIT</a:t>
            </a:r>
            <a:endParaRPr lang="en-US" sz="900" dirty="0"/>
          </a:p>
        </p:txBody>
      </p:sp>
      <p:sp>
        <p:nvSpPr>
          <p:cNvPr id="9" name="static::7"/>
          <p:cNvSpPr/>
          <p:nvPr/>
        </p:nvSpPr>
        <p:spPr>
          <a:xfrm>
            <a:off x="11109960" y="6473952"/>
            <a:ext cx="448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column-1::8"/>
          <p:cNvSpPr/>
          <p:nvPr/>
        </p:nvSpPr>
        <p:spPr>
          <a:xfrm>
            <a:off x="640080" y="2633472"/>
            <a:ext cx="3419856" cy="2688336"/>
          </a:xfrm>
          <a:prstGeom prst="rect">
            <a:avLst/>
          </a:prstGeom>
          <a:solidFill>
            <a:srgbClr val="F3F6F8"/>
          </a:solidFill>
          <a:ln w="10160">
            <a:solidFill>
              <a:srgbClr val="F3F6F8"/>
            </a:solidFill>
            <a:prstDash val="solid"/>
          </a:ln>
        </p:spPr>
      </p:sp>
      <p:sp>
        <p:nvSpPr>
          <p:cNvPr id="11" name="column-1::9"/>
          <p:cNvSpPr/>
          <p:nvPr/>
        </p:nvSpPr>
        <p:spPr>
          <a:xfrm>
            <a:off x="640080" y="2633472"/>
            <a:ext cx="3419856" cy="36576"/>
          </a:xfrm>
          <a:prstGeom prst="rect">
            <a:avLst/>
          </a:prstGeom>
          <a:solidFill>
            <a:srgbClr val="BED7E4"/>
          </a:solidFill>
          <a:ln w="10160">
            <a:solidFill>
              <a:srgbClr val="BED7E4"/>
            </a:solidFill>
            <a:prstDash val="solid"/>
          </a:ln>
        </p:spPr>
      </p:sp>
      <p:sp>
        <p:nvSpPr>
          <p:cNvPr id="12" name="column-1::10"/>
          <p:cNvSpPr/>
          <p:nvPr/>
        </p:nvSpPr>
        <p:spPr>
          <a:xfrm>
            <a:off x="841248" y="285292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D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WAARNEMING</a:t>
            </a:r>
            <a:endParaRPr lang="en-US" sz="1050" dirty="0"/>
          </a:p>
        </p:txBody>
      </p:sp>
      <p:sp>
        <p:nvSpPr>
          <p:cNvPr id="13" name="column-1::11"/>
          <p:cNvSpPr/>
          <p:nvPr/>
        </p:nvSpPr>
        <p:spPr>
          <a:xfrm>
            <a:off x="841248" y="324612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gedeeld ritme.</a:t>
            </a:r>
            <a:endParaRPr lang="en-US" sz="2200" dirty="0"/>
          </a:p>
        </p:txBody>
      </p:sp>
      <p:sp>
        <p:nvSpPr>
          <p:cNvPr id="14" name="column-1::12"/>
          <p:cNvSpPr/>
          <p:nvPr/>
        </p:nvSpPr>
        <p:spPr>
          <a:xfrm>
            <a:off x="841248" y="3986784"/>
            <a:ext cx="301752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systemen wachten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hetzelfde batchmoment.</a:t>
            </a:r>
            <a:endParaRPr lang="en-US" sz="1700" dirty="0"/>
          </a:p>
        </p:txBody>
      </p:sp>
      <p:sp>
        <p:nvSpPr>
          <p:cNvPr id="15" name="column-2::13"/>
          <p:cNvSpPr/>
          <p:nvPr/>
        </p:nvSpPr>
        <p:spPr>
          <a:xfrm>
            <a:off x="4389120" y="2633472"/>
            <a:ext cx="3419856" cy="2688336"/>
          </a:xfrm>
          <a:prstGeom prst="rect">
            <a:avLst/>
          </a:prstGeom>
          <a:solidFill>
            <a:srgbClr val="F3F6F8"/>
          </a:solidFill>
          <a:ln w="10160">
            <a:solidFill>
              <a:srgbClr val="F3F6F8"/>
            </a:solidFill>
            <a:prstDash val="solid"/>
          </a:ln>
        </p:spPr>
      </p:sp>
      <p:sp>
        <p:nvSpPr>
          <p:cNvPr id="16" name="column-2::14"/>
          <p:cNvSpPr/>
          <p:nvPr/>
        </p:nvSpPr>
        <p:spPr>
          <a:xfrm>
            <a:off x="4389120" y="2633472"/>
            <a:ext cx="3419856" cy="36576"/>
          </a:xfrm>
          <a:prstGeom prst="rect">
            <a:avLst/>
          </a:prstGeom>
          <a:solidFill>
            <a:srgbClr val="BED7E4"/>
          </a:solidFill>
          <a:ln w="10160">
            <a:solidFill>
              <a:srgbClr val="BED7E4"/>
            </a:solidFill>
            <a:prstDash val="solid"/>
          </a:ln>
        </p:spPr>
      </p:sp>
      <p:sp>
        <p:nvSpPr>
          <p:cNvPr id="17" name="column-2::15"/>
          <p:cNvSpPr/>
          <p:nvPr/>
        </p:nvSpPr>
        <p:spPr>
          <a:xfrm>
            <a:off x="4590288" y="285292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D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CONSEQUENTIE</a:t>
            </a:r>
            <a:endParaRPr lang="en-US" sz="1050" dirty="0"/>
          </a:p>
        </p:txBody>
      </p:sp>
      <p:sp>
        <p:nvSpPr>
          <p:cNvPr id="18" name="column-2::16"/>
          <p:cNvSpPr/>
          <p:nvPr/>
        </p:nvSpPr>
        <p:spPr>
          <a:xfrm>
            <a:off x="4590288" y="324612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klant wacht mee.</a:t>
            </a:r>
            <a:endParaRPr lang="en-US" sz="2200" dirty="0"/>
          </a:p>
        </p:txBody>
      </p:sp>
      <p:sp>
        <p:nvSpPr>
          <p:cNvPr id="19" name="column-2::17"/>
          <p:cNvSpPr/>
          <p:nvPr/>
        </p:nvSpPr>
        <p:spPr>
          <a:xfrm>
            <a:off x="4590288" y="3986784"/>
            <a:ext cx="301752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wijziging kan verwerkt zijn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voordat de klant haar ziet.</a:t>
            </a:r>
            <a:endParaRPr lang="en-US" sz="1700" dirty="0"/>
          </a:p>
        </p:txBody>
      </p:sp>
      <p:sp>
        <p:nvSpPr>
          <p:cNvPr id="20" name="column-3::18"/>
          <p:cNvSpPr/>
          <p:nvPr/>
        </p:nvSpPr>
        <p:spPr>
          <a:xfrm>
            <a:off x="8138160" y="2633472"/>
            <a:ext cx="3419856" cy="2688336"/>
          </a:xfrm>
          <a:prstGeom prst="rect">
            <a:avLst/>
          </a:prstGeom>
          <a:solidFill>
            <a:srgbClr val="F3F6F8"/>
          </a:solidFill>
          <a:ln w="10160">
            <a:solidFill>
              <a:srgbClr val="F3F6F8"/>
            </a:solidFill>
            <a:prstDash val="solid"/>
          </a:ln>
        </p:spPr>
      </p:sp>
      <p:sp>
        <p:nvSpPr>
          <p:cNvPr id="21" name="column-3::19"/>
          <p:cNvSpPr/>
          <p:nvPr/>
        </p:nvSpPr>
        <p:spPr>
          <a:xfrm>
            <a:off x="8138160" y="2633472"/>
            <a:ext cx="3419856" cy="36576"/>
          </a:xfrm>
          <a:prstGeom prst="rect">
            <a:avLst/>
          </a:prstGeom>
          <a:solidFill>
            <a:srgbClr val="BED7E4"/>
          </a:solidFill>
          <a:ln w="10160">
            <a:solidFill>
              <a:srgbClr val="BED7E4"/>
            </a:solidFill>
            <a:prstDash val="solid"/>
          </a:ln>
        </p:spPr>
      </p:sp>
      <p:sp>
        <p:nvSpPr>
          <p:cNvPr id="22" name="column-3::20"/>
          <p:cNvSpPr/>
          <p:nvPr/>
        </p:nvSpPr>
        <p:spPr>
          <a:xfrm>
            <a:off x="8339328" y="285292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D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BESLISVRAAG</a:t>
            </a:r>
            <a:endParaRPr lang="en-US" sz="1050" dirty="0"/>
          </a:p>
        </p:txBody>
      </p:sp>
      <p:sp>
        <p:nvSpPr>
          <p:cNvPr id="23" name="column-3::21"/>
          <p:cNvSpPr/>
          <p:nvPr/>
        </p:nvSpPr>
        <p:spPr>
          <a:xfrm>
            <a:off x="8339328" y="324612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moet actueler?</a:t>
            </a:r>
            <a:endParaRPr lang="en-US" sz="2200" dirty="0"/>
          </a:p>
        </p:txBody>
      </p:sp>
      <p:sp>
        <p:nvSpPr>
          <p:cNvPr id="24" name="column-3::22"/>
          <p:cNvSpPr/>
          <p:nvPr/>
        </p:nvSpPr>
        <p:spPr>
          <a:xfrm>
            <a:off x="8339328" y="3986784"/>
            <a:ext cx="301752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Bepaal eerst de gewenste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actualiteit en de klantwaarde.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lbert Heij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92608"/>
            <a:ext cx="493776" cy="493776"/>
          </a:xfrm>
          <a:prstGeom prst="rect">
            <a:avLst/>
          </a:prstGeom>
        </p:spPr>
      </p:pic>
      <p:sp>
        <p:nvSpPr>
          <p:cNvPr id="3" name="static::1"/>
          <p:cNvSpPr/>
          <p:nvPr/>
        </p:nvSpPr>
        <p:spPr>
          <a:xfrm>
            <a:off x="1344168" y="45720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VERANDERT ER CONCREET?</a:t>
            </a:r>
            <a:endParaRPr lang="en-US" sz="1000" dirty="0"/>
          </a:p>
        </p:txBody>
      </p:sp>
      <p:sp>
        <p:nvSpPr>
          <p:cNvPr id="4" name="static::2"/>
          <p:cNvSpPr/>
          <p:nvPr/>
        </p:nvSpPr>
        <p:spPr>
          <a:xfrm>
            <a:off x="9875520" y="457200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000" dirty="0"/>
          </a:p>
        </p:txBody>
      </p:sp>
      <p:sp>
        <p:nvSpPr>
          <p:cNvPr id="5" name="static::3"/>
          <p:cNvSpPr/>
          <p:nvPr/>
        </p:nvSpPr>
        <p:spPr>
          <a:xfrm>
            <a:off x="640080" y="1069848"/>
            <a:ext cx="109179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een gezamenlijk tijdstip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eigen verantwoordelijkheden.</a:t>
            </a:r>
            <a:endParaRPr lang="en-US" sz="3200" dirty="0"/>
          </a:p>
        </p:txBody>
      </p:sp>
      <p:sp>
        <p:nvSpPr>
          <p:cNvPr id="6" name="takeaway::4"/>
          <p:cNvSpPr/>
          <p:nvPr/>
        </p:nvSpPr>
        <p:spPr>
          <a:xfrm>
            <a:off x="640080" y="5760720"/>
            <a:ext cx="10917936" cy="521208"/>
          </a:xfrm>
          <a:prstGeom prst="rect">
            <a:avLst/>
          </a:prstGeom>
          <a:solidFill>
            <a:srgbClr val="003B67"/>
          </a:solidFill>
          <a:ln w="10160">
            <a:solidFill>
              <a:srgbClr val="003B67"/>
            </a:solidFill>
            <a:prstDash val="solid"/>
          </a:ln>
        </p:spPr>
      </p:sp>
      <p:sp>
        <p:nvSpPr>
          <p:cNvPr id="7" name="takeaway::5"/>
          <p:cNvSpPr/>
          <p:nvPr/>
        </p:nvSpPr>
        <p:spPr>
          <a:xfrm>
            <a:off x="859536" y="5888736"/>
            <a:ext cx="104790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doelbeeld biedt een mogelijkheid; betrouwbaarheid en beheerlast vragen nog bewijs.</a:t>
            </a:r>
            <a:endParaRPr lang="en-US" sz="1600" dirty="0"/>
          </a:p>
        </p:txBody>
      </p:sp>
      <p:sp>
        <p:nvSpPr>
          <p:cNvPr id="8" name="static::6"/>
          <p:cNvSpPr/>
          <p:nvPr/>
        </p:nvSpPr>
        <p:spPr>
          <a:xfrm>
            <a:off x="640080" y="6492240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 · ARCHITECTUURBESLUIT</a:t>
            </a:r>
            <a:endParaRPr lang="en-US" sz="900" dirty="0"/>
          </a:p>
        </p:txBody>
      </p:sp>
      <p:sp>
        <p:nvSpPr>
          <p:cNvPr id="9" name="static::7"/>
          <p:cNvSpPr/>
          <p:nvPr/>
        </p:nvSpPr>
        <p:spPr>
          <a:xfrm>
            <a:off x="11109960" y="6473952"/>
            <a:ext cx="448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static::8"/>
          <p:cNvSpPr/>
          <p:nvPr/>
        </p:nvSpPr>
        <p:spPr>
          <a:xfrm>
            <a:off x="1975104" y="25603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VANDAAG</a:t>
            </a:r>
            <a:endParaRPr lang="en-US" sz="1100" dirty="0"/>
          </a:p>
        </p:txBody>
      </p:sp>
      <p:sp>
        <p:nvSpPr>
          <p:cNvPr id="11" name="static::9"/>
          <p:cNvSpPr/>
          <p:nvPr/>
        </p:nvSpPr>
        <p:spPr>
          <a:xfrm>
            <a:off x="6400800" y="2560320"/>
            <a:ext cx="5157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D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VOORGESTELDE RICHTING</a:t>
            </a:r>
            <a:endParaRPr lang="en-US" sz="1100" dirty="0"/>
          </a:p>
        </p:txBody>
      </p:sp>
      <p:sp>
        <p:nvSpPr>
          <p:cNvPr id="12" name="row-1::10"/>
          <p:cNvSpPr/>
          <p:nvPr/>
        </p:nvSpPr>
        <p:spPr>
          <a:xfrm>
            <a:off x="640080" y="3191256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VERWERKING</a:t>
            </a:r>
            <a:endParaRPr lang="en-US" sz="1100" dirty="0"/>
          </a:p>
        </p:txBody>
      </p:sp>
      <p:sp>
        <p:nvSpPr>
          <p:cNvPr id="13" name="row-1::11"/>
          <p:cNvSpPr/>
          <p:nvPr/>
        </p:nvSpPr>
        <p:spPr>
          <a:xfrm>
            <a:off x="1975104" y="2971800"/>
            <a:ext cx="3803904" cy="713232"/>
          </a:xfrm>
          <a:prstGeom prst="rect">
            <a:avLst/>
          </a:prstGeom>
          <a:solidFill>
            <a:srgbClr val="F3F6F8"/>
          </a:solidFill>
          <a:ln w="10160">
            <a:solidFill>
              <a:srgbClr val="F3F6F8"/>
            </a:solidFill>
            <a:prstDash val="solid"/>
          </a:ln>
        </p:spPr>
      </p:sp>
      <p:sp>
        <p:nvSpPr>
          <p:cNvPr id="14" name="row-1::12"/>
          <p:cNvSpPr/>
          <p:nvPr/>
        </p:nvSpPr>
        <p:spPr>
          <a:xfrm>
            <a:off x="6400800" y="2971800"/>
            <a:ext cx="5157216" cy="713232"/>
          </a:xfrm>
          <a:prstGeom prst="rect">
            <a:avLst/>
          </a:prstGeom>
          <a:solidFill>
            <a:srgbClr val="EAF8FE"/>
          </a:solidFill>
          <a:ln w="10160">
            <a:solidFill>
              <a:srgbClr val="EAF8FE"/>
            </a:solidFill>
            <a:prstDash val="solid"/>
          </a:ln>
        </p:spPr>
      </p:sp>
      <p:sp>
        <p:nvSpPr>
          <p:cNvPr id="15" name="row-1::13"/>
          <p:cNvSpPr/>
          <p:nvPr/>
        </p:nvSpPr>
        <p:spPr>
          <a:xfrm>
            <a:off x="2176272" y="3044952"/>
            <a:ext cx="34015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Wachten op de nachtbatch.</a:t>
            </a:r>
            <a:endParaRPr lang="en-US" sz="1700" dirty="0"/>
          </a:p>
        </p:txBody>
      </p:sp>
      <p:sp>
        <p:nvSpPr>
          <p:cNvPr id="16" name="row-1::14"/>
          <p:cNvSpPr/>
          <p:nvPr/>
        </p:nvSpPr>
        <p:spPr>
          <a:xfrm>
            <a:off x="5916168" y="3145536"/>
            <a:ext cx="3474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A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row-1::15"/>
          <p:cNvSpPr/>
          <p:nvPr/>
        </p:nvSpPr>
        <p:spPr>
          <a:xfrm>
            <a:off x="6601968" y="3044952"/>
            <a:ext cx="4754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Wijzigingen afzonderlijk verwerken.</a:t>
            </a:r>
            <a:endParaRPr lang="en-US" sz="1700" dirty="0"/>
          </a:p>
        </p:txBody>
      </p:sp>
      <p:sp>
        <p:nvSpPr>
          <p:cNvPr id="18" name="row-2::16"/>
          <p:cNvSpPr/>
          <p:nvPr/>
        </p:nvSpPr>
        <p:spPr>
          <a:xfrm>
            <a:off x="640080" y="4032504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100" dirty="0"/>
          </a:p>
        </p:txBody>
      </p:sp>
      <p:sp>
        <p:nvSpPr>
          <p:cNvPr id="19" name="row-2::17"/>
          <p:cNvSpPr/>
          <p:nvPr/>
        </p:nvSpPr>
        <p:spPr>
          <a:xfrm>
            <a:off x="1975104" y="3813048"/>
            <a:ext cx="3803904" cy="713232"/>
          </a:xfrm>
          <a:prstGeom prst="rect">
            <a:avLst/>
          </a:prstGeom>
          <a:solidFill>
            <a:srgbClr val="F3F6F8"/>
          </a:solidFill>
          <a:ln w="10160">
            <a:solidFill>
              <a:srgbClr val="F3F6F8"/>
            </a:solidFill>
            <a:prstDash val="solid"/>
          </a:ln>
        </p:spPr>
      </p:sp>
      <p:sp>
        <p:nvSpPr>
          <p:cNvPr id="20" name="row-2::18"/>
          <p:cNvSpPr/>
          <p:nvPr/>
        </p:nvSpPr>
        <p:spPr>
          <a:xfrm>
            <a:off x="6400800" y="3813048"/>
            <a:ext cx="5157216" cy="713232"/>
          </a:xfrm>
          <a:prstGeom prst="rect">
            <a:avLst/>
          </a:prstGeom>
          <a:solidFill>
            <a:srgbClr val="EAF8FE"/>
          </a:solidFill>
          <a:ln w="10160">
            <a:solidFill>
              <a:srgbClr val="EAF8FE"/>
            </a:solidFill>
            <a:prstDash val="solid"/>
          </a:ln>
        </p:spPr>
      </p:sp>
      <p:sp>
        <p:nvSpPr>
          <p:cNvPr id="21" name="row-2::19"/>
          <p:cNvSpPr/>
          <p:nvPr/>
        </p:nvSpPr>
        <p:spPr>
          <a:xfrm>
            <a:off x="2176272" y="3886200"/>
            <a:ext cx="34015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na de gezamenlijke run.</a:t>
            </a:r>
            <a:endParaRPr lang="en-US" sz="1700" dirty="0"/>
          </a:p>
        </p:txBody>
      </p:sp>
      <p:sp>
        <p:nvSpPr>
          <p:cNvPr id="22" name="row-2::20"/>
          <p:cNvSpPr/>
          <p:nvPr/>
        </p:nvSpPr>
        <p:spPr>
          <a:xfrm>
            <a:off x="5916168" y="3986784"/>
            <a:ext cx="3474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A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row-2::21"/>
          <p:cNvSpPr/>
          <p:nvPr/>
        </p:nvSpPr>
        <p:spPr>
          <a:xfrm>
            <a:off x="6601968" y="3886200"/>
            <a:ext cx="4754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volgt de verwerkte wijziging.</a:t>
            </a:r>
            <a:endParaRPr lang="en-US" sz="1700" dirty="0"/>
          </a:p>
        </p:txBody>
      </p:sp>
      <p:sp>
        <p:nvSpPr>
          <p:cNvPr id="24" name="row-3::22"/>
          <p:cNvSpPr/>
          <p:nvPr/>
        </p:nvSpPr>
        <p:spPr>
          <a:xfrm>
            <a:off x="640080" y="487375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BEHEER</a:t>
            </a:r>
            <a:endParaRPr lang="en-US" sz="1100" dirty="0"/>
          </a:p>
        </p:txBody>
      </p:sp>
      <p:sp>
        <p:nvSpPr>
          <p:cNvPr id="25" name="row-3::23"/>
          <p:cNvSpPr/>
          <p:nvPr/>
        </p:nvSpPr>
        <p:spPr>
          <a:xfrm>
            <a:off x="1975104" y="4654296"/>
            <a:ext cx="3803904" cy="713232"/>
          </a:xfrm>
          <a:prstGeom prst="rect">
            <a:avLst/>
          </a:prstGeom>
          <a:solidFill>
            <a:srgbClr val="F3F6F8"/>
          </a:solidFill>
          <a:ln w="10160">
            <a:solidFill>
              <a:srgbClr val="F3F6F8"/>
            </a:solidFill>
            <a:prstDash val="solid"/>
          </a:ln>
        </p:spPr>
      </p:sp>
      <p:sp>
        <p:nvSpPr>
          <p:cNvPr id="26" name="row-3::24"/>
          <p:cNvSpPr/>
          <p:nvPr/>
        </p:nvSpPr>
        <p:spPr>
          <a:xfrm>
            <a:off x="6400800" y="4654296"/>
            <a:ext cx="5157216" cy="713232"/>
          </a:xfrm>
          <a:prstGeom prst="rect">
            <a:avLst/>
          </a:prstGeom>
          <a:solidFill>
            <a:srgbClr val="EAF8FE"/>
          </a:solidFill>
          <a:ln w="10160">
            <a:solidFill>
              <a:srgbClr val="EAF8FE"/>
            </a:solidFill>
            <a:prstDash val="solid"/>
          </a:ln>
        </p:spPr>
      </p:sp>
      <p:sp>
        <p:nvSpPr>
          <p:cNvPr id="27" name="row-3::25"/>
          <p:cNvSpPr/>
          <p:nvPr/>
        </p:nvSpPr>
        <p:spPr>
          <a:xfrm>
            <a:off x="2176272" y="4727448"/>
            <a:ext cx="34015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gezamenlijk batchproces.</a:t>
            </a:r>
            <a:endParaRPr lang="en-US" sz="1700" dirty="0"/>
          </a:p>
        </p:txBody>
      </p:sp>
      <p:sp>
        <p:nvSpPr>
          <p:cNvPr id="28" name="row-3::26"/>
          <p:cNvSpPr/>
          <p:nvPr/>
        </p:nvSpPr>
        <p:spPr>
          <a:xfrm>
            <a:off x="5916168" y="4828032"/>
            <a:ext cx="3474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A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9" name="row-3::27"/>
          <p:cNvSpPr/>
          <p:nvPr/>
        </p:nvSpPr>
        <p:spPr>
          <a:xfrm>
            <a:off x="6601968" y="4727448"/>
            <a:ext cx="4754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Overdracht en fouten expliciet volgen.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lbert Heij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92608"/>
            <a:ext cx="493776" cy="493776"/>
          </a:xfrm>
          <a:prstGeom prst="rect">
            <a:avLst/>
          </a:prstGeom>
        </p:spPr>
      </p:pic>
      <p:sp>
        <p:nvSpPr>
          <p:cNvPr id="3" name="static::1"/>
          <p:cNvSpPr/>
          <p:nvPr/>
        </p:nvSpPr>
        <p:spPr>
          <a:xfrm>
            <a:off x="1344168" y="45720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VERGELIJK OOK DE BASELINE</a:t>
            </a:r>
            <a:endParaRPr lang="en-US" sz="1000" dirty="0"/>
          </a:p>
        </p:txBody>
      </p:sp>
      <p:sp>
        <p:nvSpPr>
          <p:cNvPr id="4" name="static::2"/>
          <p:cNvSpPr/>
          <p:nvPr/>
        </p:nvSpPr>
        <p:spPr>
          <a:xfrm>
            <a:off x="9875520" y="457200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000" dirty="0"/>
          </a:p>
        </p:txBody>
      </p:sp>
      <p:sp>
        <p:nvSpPr>
          <p:cNvPr id="5" name="static::3"/>
          <p:cNvSpPr/>
          <p:nvPr/>
        </p:nvSpPr>
        <p:spPr>
          <a:xfrm>
            <a:off x="640080" y="1069848"/>
            <a:ext cx="109179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Niet veranderen is ook een keuze.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Maak de consequenties zichtbaar.</a:t>
            </a:r>
            <a:endParaRPr lang="en-US" sz="3200" dirty="0"/>
          </a:p>
        </p:txBody>
      </p:sp>
      <p:sp>
        <p:nvSpPr>
          <p:cNvPr id="6" name="takeaway::4"/>
          <p:cNvSpPr/>
          <p:nvPr/>
        </p:nvSpPr>
        <p:spPr>
          <a:xfrm>
            <a:off x="640080" y="5760720"/>
            <a:ext cx="10917936" cy="521208"/>
          </a:xfrm>
          <a:prstGeom prst="rect">
            <a:avLst/>
          </a:prstGeom>
          <a:solidFill>
            <a:srgbClr val="003B67"/>
          </a:solidFill>
          <a:ln w="10160">
            <a:solidFill>
              <a:srgbClr val="003B67"/>
            </a:solidFill>
            <a:prstDash val="solid"/>
          </a:ln>
        </p:spPr>
      </p:sp>
      <p:sp>
        <p:nvSpPr>
          <p:cNvPr id="7" name="takeaway::5"/>
          <p:cNvSpPr/>
          <p:nvPr/>
        </p:nvSpPr>
        <p:spPr>
          <a:xfrm>
            <a:off x="859536" y="5888736"/>
            <a:ext cx="104790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Kies op klantwaarde, betrouwbaarheid, inspanning en omkeerbaarheid — niet op moderniteit.</a:t>
            </a:r>
            <a:endParaRPr lang="en-US" sz="1600" dirty="0"/>
          </a:p>
        </p:txBody>
      </p:sp>
      <p:sp>
        <p:nvSpPr>
          <p:cNvPr id="8" name="static::6"/>
          <p:cNvSpPr/>
          <p:nvPr/>
        </p:nvSpPr>
        <p:spPr>
          <a:xfrm>
            <a:off x="640080" y="6492240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 · ARCHITECTUURBESLUIT</a:t>
            </a:r>
            <a:endParaRPr lang="en-US" sz="900" dirty="0"/>
          </a:p>
        </p:txBody>
      </p:sp>
      <p:sp>
        <p:nvSpPr>
          <p:cNvPr id="9" name="static::7"/>
          <p:cNvSpPr/>
          <p:nvPr/>
        </p:nvSpPr>
        <p:spPr>
          <a:xfrm>
            <a:off x="11109960" y="6473952"/>
            <a:ext cx="448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0" name="option-1::8"/>
          <p:cNvSpPr/>
          <p:nvPr/>
        </p:nvSpPr>
        <p:spPr>
          <a:xfrm>
            <a:off x="640080" y="2633472"/>
            <a:ext cx="3419856" cy="2688336"/>
          </a:xfrm>
          <a:prstGeom prst="rect">
            <a:avLst/>
          </a:prstGeom>
          <a:solidFill>
            <a:srgbClr val="F3F6F8"/>
          </a:solidFill>
          <a:ln w="10160">
            <a:solidFill>
              <a:srgbClr val="F3F6F8"/>
            </a:solidFill>
            <a:prstDash val="solid"/>
          </a:ln>
        </p:spPr>
      </p:sp>
      <p:sp>
        <p:nvSpPr>
          <p:cNvPr id="11" name="option-1::9"/>
          <p:cNvSpPr/>
          <p:nvPr/>
        </p:nvSpPr>
        <p:spPr>
          <a:xfrm>
            <a:off x="640080" y="2633472"/>
            <a:ext cx="3419856" cy="36576"/>
          </a:xfrm>
          <a:prstGeom prst="rect">
            <a:avLst/>
          </a:prstGeom>
          <a:solidFill>
            <a:srgbClr val="BED7E4"/>
          </a:solidFill>
          <a:ln w="10160">
            <a:solidFill>
              <a:srgbClr val="BED7E4"/>
            </a:solidFill>
            <a:prstDash val="solid"/>
          </a:ln>
        </p:spPr>
      </p:sp>
      <p:sp>
        <p:nvSpPr>
          <p:cNvPr id="12" name="option-1::10"/>
          <p:cNvSpPr/>
          <p:nvPr/>
        </p:nvSpPr>
        <p:spPr>
          <a:xfrm>
            <a:off x="841248" y="285292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D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050" dirty="0"/>
          </a:p>
        </p:txBody>
      </p:sp>
      <p:sp>
        <p:nvSpPr>
          <p:cNvPr id="13" name="option-1::11"/>
          <p:cNvSpPr/>
          <p:nvPr/>
        </p:nvSpPr>
        <p:spPr>
          <a:xfrm>
            <a:off x="841248" y="324612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Niets doen</a:t>
            </a:r>
            <a:endParaRPr lang="en-US" sz="2200" dirty="0"/>
          </a:p>
        </p:txBody>
      </p:sp>
      <p:sp>
        <p:nvSpPr>
          <p:cNvPr id="14" name="option-1::12"/>
          <p:cNvSpPr/>
          <p:nvPr/>
        </p:nvSpPr>
        <p:spPr>
          <a:xfrm>
            <a:off x="841248" y="3986784"/>
            <a:ext cx="30175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migratie nodig.</a:t>
            </a:r>
            <a:endParaRPr lang="en-US" sz="1650" dirty="0"/>
          </a:p>
        </p:txBody>
      </p:sp>
      <p:sp>
        <p:nvSpPr>
          <p:cNvPr id="15" name="option-1::13"/>
          <p:cNvSpPr/>
          <p:nvPr/>
        </p:nvSpPr>
        <p:spPr>
          <a:xfrm>
            <a:off x="841248" y="4626864"/>
            <a:ext cx="30175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huidige wachttijd blijft.</a:t>
            </a:r>
            <a:endParaRPr lang="en-US" sz="1650" dirty="0"/>
          </a:p>
        </p:txBody>
      </p:sp>
      <p:sp>
        <p:nvSpPr>
          <p:cNvPr id="16" name="option-2::14"/>
          <p:cNvSpPr/>
          <p:nvPr/>
        </p:nvSpPr>
        <p:spPr>
          <a:xfrm>
            <a:off x="4389120" y="2633472"/>
            <a:ext cx="3419856" cy="2688336"/>
          </a:xfrm>
          <a:prstGeom prst="rect">
            <a:avLst/>
          </a:prstGeom>
          <a:solidFill>
            <a:srgbClr val="F3F6F8"/>
          </a:solidFill>
          <a:ln w="10160">
            <a:solidFill>
              <a:srgbClr val="F3F6F8"/>
            </a:solidFill>
            <a:prstDash val="solid"/>
          </a:ln>
        </p:spPr>
      </p:sp>
      <p:sp>
        <p:nvSpPr>
          <p:cNvPr id="17" name="option-2::15"/>
          <p:cNvSpPr/>
          <p:nvPr/>
        </p:nvSpPr>
        <p:spPr>
          <a:xfrm>
            <a:off x="4389120" y="2633472"/>
            <a:ext cx="3419856" cy="36576"/>
          </a:xfrm>
          <a:prstGeom prst="rect">
            <a:avLst/>
          </a:prstGeom>
          <a:solidFill>
            <a:srgbClr val="BED7E4"/>
          </a:solidFill>
          <a:ln w="10160">
            <a:solidFill>
              <a:srgbClr val="BED7E4"/>
            </a:solidFill>
            <a:prstDash val="solid"/>
          </a:ln>
        </p:spPr>
      </p:sp>
      <p:sp>
        <p:nvSpPr>
          <p:cNvPr id="18" name="option-2::16"/>
          <p:cNvSpPr/>
          <p:nvPr/>
        </p:nvSpPr>
        <p:spPr>
          <a:xfrm>
            <a:off x="4590288" y="285292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D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ALTERNATIEF</a:t>
            </a:r>
            <a:endParaRPr lang="en-US" sz="1050" dirty="0"/>
          </a:p>
        </p:txBody>
      </p:sp>
      <p:sp>
        <p:nvSpPr>
          <p:cNvPr id="19" name="option-2::17"/>
          <p:cNvSpPr/>
          <p:nvPr/>
        </p:nvSpPr>
        <p:spPr>
          <a:xfrm>
            <a:off x="4590288" y="324612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Vaker batchen</a:t>
            </a:r>
            <a:endParaRPr lang="en-US" sz="2200" dirty="0"/>
          </a:p>
        </p:txBody>
      </p:sp>
      <p:sp>
        <p:nvSpPr>
          <p:cNvPr id="20" name="option-2::18"/>
          <p:cNvSpPr/>
          <p:nvPr/>
        </p:nvSpPr>
        <p:spPr>
          <a:xfrm>
            <a:off x="4590288" y="3986784"/>
            <a:ext cx="30175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kleinere eerste stap.</a:t>
            </a:r>
            <a:endParaRPr lang="en-US" sz="1650" dirty="0"/>
          </a:p>
        </p:txBody>
      </p:sp>
      <p:sp>
        <p:nvSpPr>
          <p:cNvPr id="21" name="option-2::19"/>
          <p:cNvSpPr/>
          <p:nvPr/>
        </p:nvSpPr>
        <p:spPr>
          <a:xfrm>
            <a:off x="4590288" y="4626864"/>
            <a:ext cx="30175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gedeelde koppeling blijft.</a:t>
            </a:r>
            <a:endParaRPr lang="en-US" sz="1650" dirty="0"/>
          </a:p>
        </p:txBody>
      </p:sp>
      <p:sp>
        <p:nvSpPr>
          <p:cNvPr id="22" name="option-3::20"/>
          <p:cNvSpPr/>
          <p:nvPr/>
        </p:nvSpPr>
        <p:spPr>
          <a:xfrm>
            <a:off x="8138160" y="2633472"/>
            <a:ext cx="3419856" cy="2688336"/>
          </a:xfrm>
          <a:prstGeom prst="rect">
            <a:avLst/>
          </a:prstGeom>
          <a:solidFill>
            <a:srgbClr val="F3F6F8"/>
          </a:solidFill>
          <a:ln w="10160">
            <a:solidFill>
              <a:srgbClr val="F3F6F8"/>
            </a:solidFill>
            <a:prstDash val="solid"/>
          </a:ln>
        </p:spPr>
      </p:sp>
      <p:sp>
        <p:nvSpPr>
          <p:cNvPr id="23" name="option-3::21"/>
          <p:cNvSpPr/>
          <p:nvPr/>
        </p:nvSpPr>
        <p:spPr>
          <a:xfrm>
            <a:off x="8138160" y="2633472"/>
            <a:ext cx="3419856" cy="36576"/>
          </a:xfrm>
          <a:prstGeom prst="rect">
            <a:avLst/>
          </a:prstGeom>
          <a:solidFill>
            <a:srgbClr val="BED7E4"/>
          </a:solidFill>
          <a:ln w="10160">
            <a:solidFill>
              <a:srgbClr val="BED7E4"/>
            </a:solidFill>
            <a:prstDash val="solid"/>
          </a:ln>
        </p:spPr>
      </p:sp>
      <p:sp>
        <p:nvSpPr>
          <p:cNvPr id="24" name="option-3::22"/>
          <p:cNvSpPr/>
          <p:nvPr/>
        </p:nvSpPr>
        <p:spPr>
          <a:xfrm>
            <a:off x="8339328" y="285292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D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ALTERNATIEF</a:t>
            </a:r>
            <a:endParaRPr lang="en-US" sz="1050" dirty="0"/>
          </a:p>
        </p:txBody>
      </p:sp>
      <p:sp>
        <p:nvSpPr>
          <p:cNvPr id="25" name="option-3::23"/>
          <p:cNvSpPr/>
          <p:nvPr/>
        </p:nvSpPr>
        <p:spPr>
          <a:xfrm>
            <a:off x="8339328" y="324612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Ontkoppelen</a:t>
            </a:r>
            <a:endParaRPr lang="en-US" sz="2200" dirty="0"/>
          </a:p>
        </p:txBody>
      </p:sp>
      <p:sp>
        <p:nvSpPr>
          <p:cNvPr id="26" name="option-3::24"/>
          <p:cNvSpPr/>
          <p:nvPr/>
        </p:nvSpPr>
        <p:spPr>
          <a:xfrm>
            <a:off x="8339328" y="3986784"/>
            <a:ext cx="30175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Eigen ritmes worden mogelijk.</a:t>
            </a:r>
            <a:endParaRPr lang="en-US" sz="1650" dirty="0"/>
          </a:p>
        </p:txBody>
      </p:sp>
      <p:sp>
        <p:nvSpPr>
          <p:cNvPr id="27" name="option-3::25"/>
          <p:cNvSpPr/>
          <p:nvPr/>
        </p:nvSpPr>
        <p:spPr>
          <a:xfrm>
            <a:off x="8339328" y="4626864"/>
            <a:ext cx="30175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overdrachten en beheer.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lbert Heij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92608"/>
            <a:ext cx="493776" cy="493776"/>
          </a:xfrm>
          <a:prstGeom prst="rect">
            <a:avLst/>
          </a:prstGeom>
        </p:spPr>
      </p:pic>
      <p:sp>
        <p:nvSpPr>
          <p:cNvPr id="3" name="static::1"/>
          <p:cNvSpPr/>
          <p:nvPr/>
        </p:nvSpPr>
        <p:spPr>
          <a:xfrm>
            <a:off x="1344168" y="45720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DOELBEELD IN DRIE KLIKSTAPPEN</a:t>
            </a:r>
            <a:endParaRPr lang="en-US" sz="1000" dirty="0"/>
          </a:p>
        </p:txBody>
      </p:sp>
      <p:sp>
        <p:nvSpPr>
          <p:cNvPr id="4" name="static::2"/>
          <p:cNvSpPr/>
          <p:nvPr/>
        </p:nvSpPr>
        <p:spPr>
          <a:xfrm>
            <a:off x="9875520" y="457200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000" dirty="0"/>
          </a:p>
        </p:txBody>
      </p:sp>
      <p:sp>
        <p:nvSpPr>
          <p:cNvPr id="5" name="static::3"/>
          <p:cNvSpPr/>
          <p:nvPr/>
        </p:nvSpPr>
        <p:spPr>
          <a:xfrm>
            <a:off x="640080" y="1069848"/>
            <a:ext cx="109179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Laat één concrete wijziging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de keten lopen.</a:t>
            </a:r>
            <a:endParaRPr lang="en-US" sz="3200" dirty="0"/>
          </a:p>
        </p:txBody>
      </p:sp>
      <p:grpSp>
        <p:nvGrpSpPr>
          <p:cNvPr id="31" name="anim-takeaway"/>
          <p:cNvGrpSpPr/>
          <p:nvPr/>
        </p:nvGrpSpPr>
        <p:grpSpPr>
          <a:xfrm>
            <a:off x="640080" y="5760720"/>
            <a:ext cx="10917936" cy="521208"/>
            <a:chOff x="640080" y="5760720"/>
            <a:chExt cx="10917936" cy="521208"/>
          </a:xfrm>
        </p:grpSpPr>
        <p:sp>
          <p:nvSpPr>
            <p:cNvPr id="6" name="takeaway::4"/>
            <p:cNvSpPr/>
            <p:nvPr/>
          </p:nvSpPr>
          <p:spPr>
            <a:xfrm>
              <a:off x="640080" y="5760720"/>
              <a:ext cx="10917936" cy="521208"/>
            </a:xfrm>
            <a:prstGeom prst="rect">
              <a:avLst/>
            </a:prstGeom>
            <a:solidFill>
              <a:srgbClr val="003B67"/>
            </a:solidFill>
            <a:ln w="10160">
              <a:solidFill>
                <a:srgbClr val="003B67"/>
              </a:solidFill>
              <a:prstDash val="solid"/>
            </a:ln>
          </p:spPr>
        </p:sp>
        <p:sp>
          <p:nvSpPr>
            <p:cNvPr id="7" name="takeaway::5"/>
            <p:cNvSpPr/>
            <p:nvPr/>
          </p:nvSpPr>
          <p:spPr>
            <a:xfrm>
              <a:off x="859536" y="5888736"/>
              <a:ext cx="10479024" cy="2834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 klantstatus volgt de verwerking; de gewenste actualiteit moet nog worden aangetoond.</a:t>
              </a:r>
              <a:endParaRPr lang="en-US" sz="1600" dirty="0"/>
            </a:p>
          </p:txBody>
        </p:sp>
      </p:grpSp>
      <p:sp>
        <p:nvSpPr>
          <p:cNvPr id="8" name="static::6"/>
          <p:cNvSpPr/>
          <p:nvPr/>
        </p:nvSpPr>
        <p:spPr>
          <a:xfrm>
            <a:off x="640080" y="6492240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 · ARCHITECTUURBESLUIT</a:t>
            </a:r>
            <a:endParaRPr lang="en-US" sz="900" dirty="0"/>
          </a:p>
        </p:txBody>
      </p:sp>
      <p:sp>
        <p:nvSpPr>
          <p:cNvPr id="9" name="static::7"/>
          <p:cNvSpPr/>
          <p:nvPr/>
        </p:nvSpPr>
        <p:spPr>
          <a:xfrm>
            <a:off x="11109960" y="6473952"/>
            <a:ext cx="448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grpSp>
        <p:nvGrpSpPr>
          <p:cNvPr id="28" name="anim-edge-change"/>
          <p:cNvGrpSpPr/>
          <p:nvPr/>
        </p:nvGrpSpPr>
        <p:grpSpPr>
          <a:xfrm>
            <a:off x="3383280" y="2807208"/>
            <a:ext cx="1417320" cy="347472"/>
            <a:chOff x="3383280" y="2807208"/>
            <a:chExt cx="1417320" cy="347472"/>
          </a:xfrm>
        </p:grpSpPr>
        <p:sp>
          <p:nvSpPr>
            <p:cNvPr id="10" name="edge-change::8"/>
            <p:cNvSpPr/>
            <p:nvPr/>
          </p:nvSpPr>
          <p:spPr>
            <a:xfrm>
              <a:off x="3383280" y="3154680"/>
              <a:ext cx="1417320" cy="0"/>
            </a:xfrm>
            <a:prstGeom prst="line">
              <a:avLst/>
            </a:prstGeom>
            <a:noFill/>
            <a:ln w="22860">
              <a:solidFill>
                <a:srgbClr val="00ADE6"/>
              </a:solidFill>
              <a:prstDash val="solid"/>
              <a:headEnd type="none"/>
              <a:tailEnd type="triangle"/>
            </a:ln>
          </p:spPr>
        </p:sp>
        <p:sp>
          <p:nvSpPr>
            <p:cNvPr id="11" name="edge-change::9"/>
            <p:cNvSpPr/>
            <p:nvPr/>
          </p:nvSpPr>
          <p:spPr>
            <a:xfrm>
              <a:off x="3753273" y="2807208"/>
              <a:ext cx="677333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200" dirty="0">
                  <a:solidFill>
                    <a:srgbClr val="00ADE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Wijziging</a:t>
              </a:r>
              <a:endParaRPr lang="en-US" sz="1200" dirty="0"/>
            </a:p>
          </p:txBody>
        </p:sp>
      </p:grpSp>
      <p:grpSp>
        <p:nvGrpSpPr>
          <p:cNvPr id="29" name="anim-edge-read"/>
          <p:cNvGrpSpPr/>
          <p:nvPr/>
        </p:nvGrpSpPr>
        <p:grpSpPr>
          <a:xfrm>
            <a:off x="7360920" y="2807208"/>
            <a:ext cx="1463040" cy="347472"/>
            <a:chOff x="7360920" y="2807208"/>
            <a:chExt cx="1463040" cy="347472"/>
          </a:xfrm>
        </p:grpSpPr>
        <p:sp>
          <p:nvSpPr>
            <p:cNvPr id="12" name="edge-read::10"/>
            <p:cNvSpPr/>
            <p:nvPr/>
          </p:nvSpPr>
          <p:spPr>
            <a:xfrm>
              <a:off x="7360920" y="3154680"/>
              <a:ext cx="1463040" cy="0"/>
            </a:xfrm>
            <a:prstGeom prst="line">
              <a:avLst/>
            </a:prstGeom>
            <a:noFill/>
            <a:ln w="22860">
              <a:solidFill>
                <a:srgbClr val="003B67"/>
              </a:solidFill>
              <a:prstDash val="solid"/>
              <a:headEnd type="none"/>
              <a:tailEnd type="triangle"/>
            </a:ln>
          </p:spPr>
        </p:sp>
        <p:sp>
          <p:nvSpPr>
            <p:cNvPr id="13" name="edge-read::11"/>
            <p:cNvSpPr/>
            <p:nvPr/>
          </p:nvSpPr>
          <p:spPr>
            <a:xfrm>
              <a:off x="7851140" y="2807208"/>
              <a:ext cx="482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200" dirty="0">
                  <a:solidFill>
                    <a:srgbClr val="003B6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Status</a:t>
              </a:r>
              <a:endParaRPr lang="en-US" sz="1200" dirty="0"/>
            </a:p>
          </p:txBody>
        </p:sp>
      </p:grpSp>
      <p:grpSp>
        <p:nvGrpSpPr>
          <p:cNvPr id="25" name="anim-node-processing"/>
          <p:cNvGrpSpPr/>
          <p:nvPr/>
        </p:nvGrpSpPr>
        <p:grpSpPr>
          <a:xfrm>
            <a:off x="822960" y="2743200"/>
            <a:ext cx="2560320" cy="822960"/>
            <a:chOff x="822960" y="2743200"/>
            <a:chExt cx="2560320" cy="822960"/>
          </a:xfrm>
        </p:grpSpPr>
        <p:sp>
          <p:nvSpPr>
            <p:cNvPr id="14" name="node-processing::12"/>
            <p:cNvSpPr/>
            <p:nvPr/>
          </p:nvSpPr>
          <p:spPr>
            <a:xfrm>
              <a:off x="822960" y="2743200"/>
              <a:ext cx="2560320" cy="822960"/>
            </a:xfrm>
            <a:prstGeom prst="rect">
              <a:avLst/>
            </a:prstGeom>
            <a:solidFill>
              <a:srgbClr val="EAF8FE"/>
            </a:solidFill>
            <a:ln w="10160">
              <a:solidFill>
                <a:srgbClr val="00ADE6"/>
              </a:solidFill>
              <a:prstDash val="solid"/>
            </a:ln>
          </p:spPr>
        </p:sp>
        <p:sp>
          <p:nvSpPr>
            <p:cNvPr id="15" name="node-processing::13"/>
            <p:cNvSpPr/>
            <p:nvPr/>
          </p:nvSpPr>
          <p:spPr>
            <a:xfrm>
              <a:off x="969264" y="2880360"/>
              <a:ext cx="2267712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700" b="1" dirty="0">
                  <a:solidFill>
                    <a:srgbClr val="003B6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Verwerking</a:t>
              </a:r>
              <a:endParaRPr lang="en-US" sz="1700" dirty="0"/>
            </a:p>
          </p:txBody>
        </p:sp>
        <p:sp>
          <p:nvSpPr>
            <p:cNvPr id="16" name="node-processing::14"/>
            <p:cNvSpPr/>
            <p:nvPr/>
          </p:nvSpPr>
          <p:spPr>
            <a:xfrm>
              <a:off x="969264" y="3282696"/>
              <a:ext cx="2267712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180" dirty="0">
                  <a:solidFill>
                    <a:srgbClr val="5876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Verwerkt aanvragen</a:t>
              </a:r>
              <a:endParaRPr lang="en-US" sz="1180" dirty="0"/>
            </a:p>
          </p:txBody>
        </p:sp>
      </p:grpSp>
      <p:grpSp>
        <p:nvGrpSpPr>
          <p:cNvPr id="26" name="anim-node-status"/>
          <p:cNvGrpSpPr/>
          <p:nvPr/>
        </p:nvGrpSpPr>
        <p:grpSpPr>
          <a:xfrm>
            <a:off x="4800600" y="2743200"/>
            <a:ext cx="2560320" cy="822960"/>
            <a:chOff x="4800600" y="2743200"/>
            <a:chExt cx="2560320" cy="822960"/>
          </a:xfrm>
        </p:grpSpPr>
        <p:sp>
          <p:nvSpPr>
            <p:cNvPr id="17" name="node-status::15"/>
            <p:cNvSpPr/>
            <p:nvPr/>
          </p:nvSpPr>
          <p:spPr>
            <a:xfrm>
              <a:off x="4800600" y="2743200"/>
              <a:ext cx="2560320" cy="822960"/>
            </a:xfrm>
            <a:prstGeom prst="rect">
              <a:avLst/>
            </a:prstGeom>
            <a:solidFill>
              <a:srgbClr val="EAF8FE"/>
            </a:solidFill>
            <a:ln w="10160">
              <a:solidFill>
                <a:srgbClr val="00ADE6"/>
              </a:solidFill>
              <a:prstDash val="solid"/>
            </a:ln>
          </p:spPr>
        </p:sp>
        <p:sp>
          <p:nvSpPr>
            <p:cNvPr id="18" name="node-status::16"/>
            <p:cNvSpPr/>
            <p:nvPr/>
          </p:nvSpPr>
          <p:spPr>
            <a:xfrm>
              <a:off x="4946904" y="2880360"/>
              <a:ext cx="2267712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700" b="1" dirty="0">
                  <a:solidFill>
                    <a:srgbClr val="003B6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Statusdienst</a:t>
              </a:r>
              <a:endParaRPr lang="en-US" sz="1700" dirty="0"/>
            </a:p>
          </p:txBody>
        </p:sp>
        <p:sp>
          <p:nvSpPr>
            <p:cNvPr id="19" name="node-status::17"/>
            <p:cNvSpPr/>
            <p:nvPr/>
          </p:nvSpPr>
          <p:spPr>
            <a:xfrm>
              <a:off x="4946904" y="3282696"/>
              <a:ext cx="2267712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180" dirty="0">
                  <a:solidFill>
                    <a:srgbClr val="5876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Houdt de status bij</a:t>
              </a:r>
              <a:endParaRPr lang="en-US" sz="1180" dirty="0"/>
            </a:p>
          </p:txBody>
        </p:sp>
      </p:grpSp>
      <p:grpSp>
        <p:nvGrpSpPr>
          <p:cNvPr id="27" name="anim-node-portal"/>
          <p:cNvGrpSpPr/>
          <p:nvPr/>
        </p:nvGrpSpPr>
        <p:grpSpPr>
          <a:xfrm>
            <a:off x="8823960" y="2743200"/>
            <a:ext cx="2514600" cy="822960"/>
            <a:chOff x="8823960" y="2743200"/>
            <a:chExt cx="2514600" cy="822960"/>
          </a:xfrm>
        </p:grpSpPr>
        <p:sp>
          <p:nvSpPr>
            <p:cNvPr id="20" name="node-portal::18"/>
            <p:cNvSpPr/>
            <p:nvPr/>
          </p:nvSpPr>
          <p:spPr>
            <a:xfrm>
              <a:off x="8823960" y="2743200"/>
              <a:ext cx="2514600" cy="822960"/>
            </a:xfrm>
            <a:prstGeom prst="rect">
              <a:avLst/>
            </a:prstGeom>
            <a:solidFill>
              <a:srgbClr val="EAF8FE"/>
            </a:solidFill>
            <a:ln w="10160">
              <a:solidFill>
                <a:srgbClr val="00ADE6"/>
              </a:solidFill>
              <a:prstDash val="solid"/>
            </a:ln>
          </p:spPr>
        </p:sp>
        <p:sp>
          <p:nvSpPr>
            <p:cNvPr id="21" name="node-portal::19"/>
            <p:cNvSpPr/>
            <p:nvPr/>
          </p:nvSpPr>
          <p:spPr>
            <a:xfrm>
              <a:off x="8970264" y="2880360"/>
              <a:ext cx="2221992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700" b="1" dirty="0">
                  <a:solidFill>
                    <a:srgbClr val="003B6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Klantportaal</a:t>
              </a:r>
              <a:endParaRPr lang="en-US" sz="1700" dirty="0"/>
            </a:p>
          </p:txBody>
        </p:sp>
        <p:sp>
          <p:nvSpPr>
            <p:cNvPr id="22" name="node-portal::20"/>
            <p:cNvSpPr/>
            <p:nvPr/>
          </p:nvSpPr>
          <p:spPr>
            <a:xfrm>
              <a:off x="8970264" y="3282696"/>
              <a:ext cx="2221992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180" dirty="0">
                  <a:solidFill>
                    <a:srgbClr val="5876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Laat status zien</a:t>
              </a:r>
              <a:endParaRPr lang="en-US" sz="1180" dirty="0"/>
            </a:p>
          </p:txBody>
        </p:sp>
      </p:grpSp>
      <p:grpSp>
        <p:nvGrpSpPr>
          <p:cNvPr id="30" name="anim-note-assumption"/>
          <p:cNvGrpSpPr/>
          <p:nvPr/>
        </p:nvGrpSpPr>
        <p:grpSpPr>
          <a:xfrm>
            <a:off x="822960" y="3749040"/>
            <a:ext cx="10515600" cy="457200"/>
            <a:chOff x="822960" y="3749040"/>
            <a:chExt cx="10515600" cy="457200"/>
          </a:xfrm>
        </p:grpSpPr>
        <p:sp>
          <p:nvSpPr>
            <p:cNvPr id="23" name="note-assumption::21"/>
            <p:cNvSpPr/>
            <p:nvPr/>
          </p:nvSpPr>
          <p:spPr>
            <a:xfrm>
              <a:off x="822960" y="3749040"/>
              <a:ext cx="10515600" cy="457200"/>
            </a:xfrm>
            <a:prstGeom prst="rect">
              <a:avLst/>
            </a:prstGeom>
            <a:solidFill>
              <a:srgbClr val="F1F6F9"/>
            </a:solidFill>
            <a:ln w="10160">
              <a:solidFill>
                <a:srgbClr val="F1F6F9"/>
              </a:solidFill>
              <a:prstDash val="solid"/>
            </a:ln>
          </p:spPr>
        </p:sp>
        <p:sp>
          <p:nvSpPr>
            <p:cNvPr id="24" name="note-assumption::22"/>
            <p:cNvSpPr/>
            <p:nvPr/>
          </p:nvSpPr>
          <p:spPr>
            <a:xfrm>
              <a:off x="932688" y="3803904"/>
              <a:ext cx="10296144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400" dirty="0">
                  <a:solidFill>
                    <a:srgbClr val="5876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Doelbeeld: actualiteit en beheerlast moeten nog worden gemeten.</a:t>
              </a:r>
              <a:endParaRPr lang="en-US" sz="14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3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lbert Heij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92608"/>
            <a:ext cx="493776" cy="493776"/>
          </a:xfrm>
          <a:prstGeom prst="rect">
            <a:avLst/>
          </a:prstGeom>
        </p:spPr>
      </p:pic>
      <p:sp>
        <p:nvSpPr>
          <p:cNvPr id="3" name="static::1"/>
          <p:cNvSpPr/>
          <p:nvPr/>
        </p:nvSpPr>
        <p:spPr>
          <a:xfrm>
            <a:off x="1344168" y="45720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DEZELFDE PLAAT, MET HET ONTBREKENDE BEWIJS</a:t>
            </a:r>
            <a:endParaRPr lang="en-US" sz="1000" dirty="0"/>
          </a:p>
        </p:txBody>
      </p:sp>
      <p:sp>
        <p:nvSpPr>
          <p:cNvPr id="4" name="static::2"/>
          <p:cNvSpPr/>
          <p:nvPr/>
        </p:nvSpPr>
        <p:spPr>
          <a:xfrm>
            <a:off x="9875520" y="457200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000" dirty="0"/>
          </a:p>
        </p:txBody>
      </p:sp>
      <p:sp>
        <p:nvSpPr>
          <p:cNvPr id="5" name="static::3"/>
          <p:cNvSpPr/>
          <p:nvPr/>
        </p:nvSpPr>
        <p:spPr>
          <a:xfrm>
            <a:off x="640080" y="1069848"/>
            <a:ext cx="109179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pijl is nog geen businesscase.</a:t>
            </a:r>
            <a:endParaRPr lang="en-US" sz="3200" dirty="0"/>
          </a:p>
        </p:txBody>
      </p:sp>
      <p:sp>
        <p:nvSpPr>
          <p:cNvPr id="6" name="takeaway::4"/>
          <p:cNvSpPr/>
          <p:nvPr/>
        </p:nvSpPr>
        <p:spPr>
          <a:xfrm>
            <a:off x="640080" y="5760720"/>
            <a:ext cx="10917936" cy="521208"/>
          </a:xfrm>
          <a:prstGeom prst="rect">
            <a:avLst/>
          </a:prstGeom>
          <a:solidFill>
            <a:srgbClr val="003B67"/>
          </a:solidFill>
          <a:ln w="10160">
            <a:solidFill>
              <a:srgbClr val="003B67"/>
            </a:solidFill>
            <a:prstDash val="solid"/>
          </a:ln>
        </p:spPr>
      </p:sp>
      <p:sp>
        <p:nvSpPr>
          <p:cNvPr id="7" name="takeaway::5"/>
          <p:cNvSpPr/>
          <p:nvPr/>
        </p:nvSpPr>
        <p:spPr>
          <a:xfrm>
            <a:off x="859536" y="5888736"/>
            <a:ext cx="104790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 de ontbrekende onderbouwing naast het doelbeeld, zodat het besluit toetsbaar wordt.</a:t>
            </a:r>
            <a:endParaRPr lang="en-US" sz="1600" dirty="0"/>
          </a:p>
        </p:txBody>
      </p:sp>
      <p:sp>
        <p:nvSpPr>
          <p:cNvPr id="8" name="static::6"/>
          <p:cNvSpPr/>
          <p:nvPr/>
        </p:nvSpPr>
        <p:spPr>
          <a:xfrm>
            <a:off x="640080" y="6492240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 · ARCHITECTUURBESLUIT</a:t>
            </a:r>
            <a:endParaRPr lang="en-US" sz="900" dirty="0"/>
          </a:p>
        </p:txBody>
      </p:sp>
      <p:sp>
        <p:nvSpPr>
          <p:cNvPr id="9" name="static::7"/>
          <p:cNvSpPr/>
          <p:nvPr/>
        </p:nvSpPr>
        <p:spPr>
          <a:xfrm>
            <a:off x="11109960" y="6473952"/>
            <a:ext cx="448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10" name="edge-change::8"/>
          <p:cNvSpPr/>
          <p:nvPr/>
        </p:nvSpPr>
        <p:spPr>
          <a:xfrm>
            <a:off x="3383280" y="3154680"/>
            <a:ext cx="1417320" cy="0"/>
          </a:xfrm>
          <a:prstGeom prst="line">
            <a:avLst/>
          </a:prstGeom>
          <a:noFill/>
          <a:ln w="22860">
            <a:solidFill>
              <a:srgbClr val="CBD7DF"/>
            </a:solidFill>
            <a:prstDash val="solid"/>
            <a:headEnd type="none"/>
            <a:tailEnd type="triangle"/>
          </a:ln>
        </p:spPr>
      </p:sp>
      <p:sp>
        <p:nvSpPr>
          <p:cNvPr id="11" name="edge-change::9"/>
          <p:cNvSpPr/>
          <p:nvPr/>
        </p:nvSpPr>
        <p:spPr>
          <a:xfrm>
            <a:off x="3753273" y="2807208"/>
            <a:ext cx="6773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7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Wijziging</a:t>
            </a:r>
            <a:endParaRPr lang="en-US" sz="1200" dirty="0"/>
          </a:p>
        </p:txBody>
      </p:sp>
      <p:sp>
        <p:nvSpPr>
          <p:cNvPr id="12" name="edge-read::10"/>
          <p:cNvSpPr/>
          <p:nvPr/>
        </p:nvSpPr>
        <p:spPr>
          <a:xfrm>
            <a:off x="7360920" y="3154680"/>
            <a:ext cx="1463040" cy="0"/>
          </a:xfrm>
          <a:prstGeom prst="line">
            <a:avLst/>
          </a:prstGeom>
          <a:noFill/>
          <a:ln w="22860">
            <a:solidFill>
              <a:srgbClr val="003B67"/>
            </a:solidFill>
            <a:prstDash val="solid"/>
            <a:headEnd type="none"/>
            <a:tailEnd type="triangle"/>
          </a:ln>
        </p:spPr>
      </p:sp>
      <p:sp>
        <p:nvSpPr>
          <p:cNvPr id="13" name="edge-read::11"/>
          <p:cNvSpPr/>
          <p:nvPr/>
        </p:nvSpPr>
        <p:spPr>
          <a:xfrm>
            <a:off x="7851140" y="2807208"/>
            <a:ext cx="48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200" dirty="0"/>
          </a:p>
        </p:txBody>
      </p:sp>
      <p:sp>
        <p:nvSpPr>
          <p:cNvPr id="14" name="node-processing::12"/>
          <p:cNvSpPr/>
          <p:nvPr/>
        </p:nvSpPr>
        <p:spPr>
          <a:xfrm>
            <a:off x="822960" y="2743200"/>
            <a:ext cx="2560320" cy="822960"/>
          </a:xfrm>
          <a:prstGeom prst="rect">
            <a:avLst/>
          </a:prstGeom>
          <a:solidFill>
            <a:srgbClr val="F5F7F8"/>
          </a:solidFill>
          <a:ln w="10160">
            <a:solidFill>
              <a:srgbClr val="D5DFE5"/>
            </a:solidFill>
            <a:prstDash val="solid"/>
          </a:ln>
        </p:spPr>
      </p:sp>
      <p:sp>
        <p:nvSpPr>
          <p:cNvPr id="15" name="node-processing::13"/>
          <p:cNvSpPr/>
          <p:nvPr/>
        </p:nvSpPr>
        <p:spPr>
          <a:xfrm>
            <a:off x="969264" y="288036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D92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Verwerking</a:t>
            </a:r>
            <a:endParaRPr lang="en-US" sz="1700" dirty="0"/>
          </a:p>
        </p:txBody>
      </p:sp>
      <p:sp>
        <p:nvSpPr>
          <p:cNvPr id="16" name="node-processing::14"/>
          <p:cNvSpPr/>
          <p:nvPr/>
        </p:nvSpPr>
        <p:spPr>
          <a:xfrm>
            <a:off x="969264" y="3282696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Verwerkt aanvragen</a:t>
            </a:r>
            <a:endParaRPr lang="en-US" sz="1180" dirty="0"/>
          </a:p>
        </p:txBody>
      </p:sp>
      <p:sp>
        <p:nvSpPr>
          <p:cNvPr id="17" name="node-status::15"/>
          <p:cNvSpPr/>
          <p:nvPr/>
        </p:nvSpPr>
        <p:spPr>
          <a:xfrm>
            <a:off x="4800600" y="2743200"/>
            <a:ext cx="2560320" cy="822960"/>
          </a:xfrm>
          <a:prstGeom prst="rect">
            <a:avLst/>
          </a:prstGeom>
          <a:solidFill>
            <a:srgbClr val="EAF8FE"/>
          </a:solidFill>
          <a:ln w="10160">
            <a:solidFill>
              <a:srgbClr val="00ADE6"/>
            </a:solidFill>
            <a:prstDash val="solid"/>
          </a:ln>
        </p:spPr>
      </p:sp>
      <p:sp>
        <p:nvSpPr>
          <p:cNvPr id="18" name="node-status::16"/>
          <p:cNvSpPr/>
          <p:nvPr/>
        </p:nvSpPr>
        <p:spPr>
          <a:xfrm>
            <a:off x="4946904" y="288036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Statusdienst</a:t>
            </a:r>
            <a:endParaRPr lang="en-US" sz="1700" dirty="0"/>
          </a:p>
        </p:txBody>
      </p:sp>
      <p:sp>
        <p:nvSpPr>
          <p:cNvPr id="19" name="node-status::17"/>
          <p:cNvSpPr/>
          <p:nvPr/>
        </p:nvSpPr>
        <p:spPr>
          <a:xfrm>
            <a:off x="4946904" y="3282696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Houdt de status bij</a:t>
            </a:r>
            <a:endParaRPr lang="en-US" sz="1180" dirty="0"/>
          </a:p>
        </p:txBody>
      </p:sp>
      <p:sp>
        <p:nvSpPr>
          <p:cNvPr id="20" name="node-portal::18"/>
          <p:cNvSpPr/>
          <p:nvPr/>
        </p:nvSpPr>
        <p:spPr>
          <a:xfrm>
            <a:off x="8823960" y="2743200"/>
            <a:ext cx="2514600" cy="822960"/>
          </a:xfrm>
          <a:prstGeom prst="rect">
            <a:avLst/>
          </a:prstGeom>
          <a:solidFill>
            <a:srgbClr val="EAF8FE"/>
          </a:solidFill>
          <a:ln w="10160">
            <a:solidFill>
              <a:srgbClr val="00ADE6"/>
            </a:solidFill>
            <a:prstDash val="solid"/>
          </a:ln>
        </p:spPr>
      </p:sp>
      <p:sp>
        <p:nvSpPr>
          <p:cNvPr id="21" name="node-portal::19"/>
          <p:cNvSpPr/>
          <p:nvPr/>
        </p:nvSpPr>
        <p:spPr>
          <a:xfrm>
            <a:off x="8970264" y="2880360"/>
            <a:ext cx="2221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Klantportaal</a:t>
            </a:r>
            <a:endParaRPr lang="en-US" sz="1700" dirty="0"/>
          </a:p>
        </p:txBody>
      </p:sp>
      <p:sp>
        <p:nvSpPr>
          <p:cNvPr id="22" name="node-portal::20"/>
          <p:cNvSpPr/>
          <p:nvPr/>
        </p:nvSpPr>
        <p:spPr>
          <a:xfrm>
            <a:off x="8970264" y="3282696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Laat status zien</a:t>
            </a:r>
            <a:endParaRPr lang="en-US" sz="1180" dirty="0"/>
          </a:p>
        </p:txBody>
      </p:sp>
      <p:sp>
        <p:nvSpPr>
          <p:cNvPr id="23" name="note-assumption::21"/>
          <p:cNvSpPr/>
          <p:nvPr/>
        </p:nvSpPr>
        <p:spPr>
          <a:xfrm>
            <a:off x="822960" y="3749040"/>
            <a:ext cx="10515600" cy="457200"/>
          </a:xfrm>
          <a:prstGeom prst="rect">
            <a:avLst/>
          </a:prstGeom>
          <a:solidFill>
            <a:srgbClr val="F1F6F9"/>
          </a:solidFill>
          <a:ln w="10160">
            <a:solidFill>
              <a:srgbClr val="F1F6F9"/>
            </a:solidFill>
            <a:prstDash val="solid"/>
          </a:ln>
        </p:spPr>
      </p:sp>
      <p:sp>
        <p:nvSpPr>
          <p:cNvPr id="24" name="note-assumption::22"/>
          <p:cNvSpPr/>
          <p:nvPr/>
        </p:nvSpPr>
        <p:spPr>
          <a:xfrm>
            <a:off x="932688" y="3803904"/>
            <a:ext cx="10296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Doelbeeld: actualiteit en beheerlast moeten nog worden gemeten.</a:t>
            </a:r>
            <a:endParaRPr lang="en-US" sz="1400" dirty="0"/>
          </a:p>
        </p:txBody>
      </p:sp>
      <p:sp>
        <p:nvSpPr>
          <p:cNvPr id="25" name="table-frame::23"/>
          <p:cNvSpPr/>
          <p:nvPr/>
        </p:nvSpPr>
        <p:spPr>
          <a:xfrm>
            <a:off x="640080" y="4599432"/>
            <a:ext cx="10917936" cy="256032"/>
          </a:xfrm>
          <a:prstGeom prst="rect">
            <a:avLst/>
          </a:prstGeom>
          <a:solidFill>
            <a:srgbClr val="EAF8FE"/>
          </a:solidFill>
          <a:ln w="10160">
            <a:solidFill>
              <a:srgbClr val="EAF8FE"/>
            </a:solidFill>
            <a:prstDash val="solid"/>
          </a:ln>
        </p:spPr>
      </p:sp>
      <p:sp>
        <p:nvSpPr>
          <p:cNvPr id="26" name="table-highlight-2::24"/>
          <p:cNvSpPr/>
          <p:nvPr/>
        </p:nvSpPr>
        <p:spPr>
          <a:xfrm>
            <a:off x="640080" y="5399532"/>
            <a:ext cx="10917936" cy="228600"/>
          </a:xfrm>
          <a:prstGeom prst="rect">
            <a:avLst/>
          </a:prstGeom>
          <a:solidFill>
            <a:srgbClr val="FFF3D7"/>
          </a:solidFill>
          <a:ln w="10160">
            <a:solidFill>
              <a:srgbClr val="FFF3D7"/>
            </a:solidFill>
            <a:prstDash val="solid"/>
          </a:ln>
        </p:spPr>
      </p:sp>
      <p:sp>
        <p:nvSpPr>
          <p:cNvPr id="27" name="table-col-question::25"/>
          <p:cNvSpPr/>
          <p:nvPr/>
        </p:nvSpPr>
        <p:spPr>
          <a:xfrm>
            <a:off x="786384" y="4636008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D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moet worden getoetst?</a:t>
            </a:r>
            <a:endParaRPr lang="en-US" sz="1000" dirty="0"/>
          </a:p>
        </p:txBody>
      </p:sp>
      <p:sp>
        <p:nvSpPr>
          <p:cNvPr id="28" name="table-col-question::26"/>
          <p:cNvSpPr/>
          <p:nvPr/>
        </p:nvSpPr>
        <p:spPr>
          <a:xfrm>
            <a:off x="786384" y="4965192"/>
            <a:ext cx="3364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Klantvertraging</a:t>
            </a:r>
            <a:endParaRPr lang="en-US" sz="1200" dirty="0"/>
          </a:p>
        </p:txBody>
      </p:sp>
      <p:sp>
        <p:nvSpPr>
          <p:cNvPr id="29" name="table-col-question::27"/>
          <p:cNvSpPr/>
          <p:nvPr/>
        </p:nvSpPr>
        <p:spPr>
          <a:xfrm>
            <a:off x="786384" y="5193792"/>
            <a:ext cx="3364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Beheerlast</a:t>
            </a:r>
            <a:endParaRPr lang="en-US" sz="1200" dirty="0"/>
          </a:p>
        </p:txBody>
      </p:sp>
      <p:sp>
        <p:nvSpPr>
          <p:cNvPr id="30" name="table-col-question::28"/>
          <p:cNvSpPr/>
          <p:nvPr/>
        </p:nvSpPr>
        <p:spPr>
          <a:xfrm>
            <a:off x="786384" y="5422392"/>
            <a:ext cx="3364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</a:t>
            </a:r>
            <a:endParaRPr lang="en-US" sz="1200" dirty="0"/>
          </a:p>
        </p:txBody>
      </p:sp>
      <p:sp>
        <p:nvSpPr>
          <p:cNvPr id="31" name="table-col-known::29"/>
          <p:cNvSpPr/>
          <p:nvPr/>
        </p:nvSpPr>
        <p:spPr>
          <a:xfrm>
            <a:off x="4425696" y="4636008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D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weten we nu?</a:t>
            </a:r>
            <a:endParaRPr lang="en-US" sz="1000" dirty="0"/>
          </a:p>
        </p:txBody>
      </p:sp>
      <p:sp>
        <p:nvSpPr>
          <p:cNvPr id="32" name="table-col-known::30"/>
          <p:cNvSpPr/>
          <p:nvPr/>
        </p:nvSpPr>
        <p:spPr>
          <a:xfrm>
            <a:off x="4425696" y="4965192"/>
            <a:ext cx="3364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Nog te meten</a:t>
            </a:r>
            <a:endParaRPr lang="en-US" sz="1200" dirty="0"/>
          </a:p>
        </p:txBody>
      </p:sp>
      <p:sp>
        <p:nvSpPr>
          <p:cNvPr id="33" name="table-col-known::31"/>
          <p:cNvSpPr/>
          <p:nvPr/>
        </p:nvSpPr>
        <p:spPr>
          <a:xfrm>
            <a:off x="4425696" y="5193792"/>
            <a:ext cx="3364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Nog te onderzoeken</a:t>
            </a:r>
            <a:endParaRPr lang="en-US" sz="1200" dirty="0"/>
          </a:p>
        </p:txBody>
      </p:sp>
      <p:sp>
        <p:nvSpPr>
          <p:cNvPr id="34" name="table-col-known::32"/>
          <p:cNvSpPr/>
          <p:nvPr/>
        </p:nvSpPr>
        <p:spPr>
          <a:xfrm>
            <a:off x="4425696" y="5422392"/>
            <a:ext cx="3364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Niet vastgesteld</a:t>
            </a:r>
            <a:endParaRPr lang="en-US" sz="1200" dirty="0"/>
          </a:p>
        </p:txBody>
      </p:sp>
      <p:sp>
        <p:nvSpPr>
          <p:cNvPr id="35" name="table-col-next::33"/>
          <p:cNvSpPr/>
          <p:nvPr/>
        </p:nvSpPr>
        <p:spPr>
          <a:xfrm>
            <a:off x="8065008" y="4636008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D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000" dirty="0"/>
          </a:p>
        </p:txBody>
      </p:sp>
      <p:sp>
        <p:nvSpPr>
          <p:cNvPr id="36" name="table-col-next::34"/>
          <p:cNvSpPr/>
          <p:nvPr/>
        </p:nvSpPr>
        <p:spPr>
          <a:xfrm>
            <a:off x="8065008" y="4965192"/>
            <a:ext cx="3364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de huidige doorlooptijd</a:t>
            </a:r>
            <a:endParaRPr lang="en-US" sz="1200" dirty="0"/>
          </a:p>
        </p:txBody>
      </p:sp>
      <p:sp>
        <p:nvSpPr>
          <p:cNvPr id="37" name="table-col-next::35"/>
          <p:cNvSpPr/>
          <p:nvPr/>
        </p:nvSpPr>
        <p:spPr>
          <a:xfrm>
            <a:off x="8065008" y="5193792"/>
            <a:ext cx="3364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fouten en herstel</a:t>
            </a:r>
            <a:endParaRPr lang="en-US" sz="1200" dirty="0"/>
          </a:p>
        </p:txBody>
      </p:sp>
      <p:sp>
        <p:nvSpPr>
          <p:cNvPr id="38" name="table-col-next::36"/>
          <p:cNvSpPr/>
          <p:nvPr/>
        </p:nvSpPr>
        <p:spPr>
          <a:xfrm>
            <a:off x="8065008" y="5422392"/>
            <a:ext cx="3364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Onderbouw de businesscase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lbert Heij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92608"/>
            <a:ext cx="493776" cy="493776"/>
          </a:xfrm>
          <a:prstGeom prst="rect">
            <a:avLst/>
          </a:prstGeom>
        </p:spPr>
      </p:pic>
      <p:sp>
        <p:nvSpPr>
          <p:cNvPr id="3" name="static::1"/>
          <p:cNvSpPr/>
          <p:nvPr/>
        </p:nvSpPr>
        <p:spPr>
          <a:xfrm>
            <a:off x="1344168" y="45720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CONCREET EN BEGRENSD MANDAAT</a:t>
            </a:r>
            <a:endParaRPr lang="en-US" sz="1000" dirty="0"/>
          </a:p>
        </p:txBody>
      </p:sp>
      <p:sp>
        <p:nvSpPr>
          <p:cNvPr id="4" name="static::2"/>
          <p:cNvSpPr/>
          <p:nvPr/>
        </p:nvSpPr>
        <p:spPr>
          <a:xfrm>
            <a:off x="9875520" y="457200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000" dirty="0"/>
          </a:p>
        </p:txBody>
      </p:sp>
      <p:sp>
        <p:nvSpPr>
          <p:cNvPr id="5" name="static::3"/>
          <p:cNvSpPr/>
          <p:nvPr/>
        </p:nvSpPr>
        <p:spPr>
          <a:xfrm>
            <a:off x="640080" y="1069848"/>
            <a:ext cx="109179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Vraag ruimte om de keuze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verantwoord te onderbouwen.</a:t>
            </a:r>
            <a:endParaRPr lang="en-US" sz="3200" dirty="0"/>
          </a:p>
        </p:txBody>
      </p:sp>
      <p:sp>
        <p:nvSpPr>
          <p:cNvPr id="6" name="takeaway::4"/>
          <p:cNvSpPr/>
          <p:nvPr/>
        </p:nvSpPr>
        <p:spPr>
          <a:xfrm>
            <a:off x="640080" y="5760720"/>
            <a:ext cx="10917936" cy="521208"/>
          </a:xfrm>
          <a:prstGeom prst="rect">
            <a:avLst/>
          </a:prstGeom>
          <a:solidFill>
            <a:srgbClr val="003B67"/>
          </a:solidFill>
          <a:ln w="10160">
            <a:solidFill>
              <a:srgbClr val="003B67"/>
            </a:solidFill>
            <a:prstDash val="solid"/>
          </a:ln>
        </p:spPr>
      </p:sp>
      <p:sp>
        <p:nvSpPr>
          <p:cNvPr id="7" name="takeaway::5"/>
          <p:cNvSpPr/>
          <p:nvPr/>
        </p:nvSpPr>
        <p:spPr>
          <a:xfrm>
            <a:off x="859536" y="5888736"/>
            <a:ext cx="104790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Vraag geen blanco akkoord op een eindarchitectuur; vraag een besluit dat past bij het bewijs.</a:t>
            </a:r>
            <a:endParaRPr lang="en-US" sz="1600" dirty="0"/>
          </a:p>
        </p:txBody>
      </p:sp>
      <p:sp>
        <p:nvSpPr>
          <p:cNvPr id="8" name="static::6"/>
          <p:cNvSpPr/>
          <p:nvPr/>
        </p:nvSpPr>
        <p:spPr>
          <a:xfrm>
            <a:off x="640080" y="6492240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 · ARCHITECTUURBESLUIT</a:t>
            </a:r>
            <a:endParaRPr lang="en-US" sz="900" dirty="0"/>
          </a:p>
        </p:txBody>
      </p:sp>
      <p:sp>
        <p:nvSpPr>
          <p:cNvPr id="9" name="static::7"/>
          <p:cNvSpPr/>
          <p:nvPr/>
        </p:nvSpPr>
        <p:spPr>
          <a:xfrm>
            <a:off x="11109960" y="6473952"/>
            <a:ext cx="448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10" name="column-1::8"/>
          <p:cNvSpPr/>
          <p:nvPr/>
        </p:nvSpPr>
        <p:spPr>
          <a:xfrm>
            <a:off x="640080" y="2633472"/>
            <a:ext cx="3419856" cy="2688336"/>
          </a:xfrm>
          <a:prstGeom prst="rect">
            <a:avLst/>
          </a:prstGeom>
          <a:solidFill>
            <a:srgbClr val="F3F6F8"/>
          </a:solidFill>
          <a:ln w="10160">
            <a:solidFill>
              <a:srgbClr val="F3F6F8"/>
            </a:solidFill>
            <a:prstDash val="solid"/>
          </a:ln>
        </p:spPr>
      </p:sp>
      <p:sp>
        <p:nvSpPr>
          <p:cNvPr id="11" name="column-1::9"/>
          <p:cNvSpPr/>
          <p:nvPr/>
        </p:nvSpPr>
        <p:spPr>
          <a:xfrm>
            <a:off x="640080" y="2633472"/>
            <a:ext cx="3419856" cy="36576"/>
          </a:xfrm>
          <a:prstGeom prst="rect">
            <a:avLst/>
          </a:prstGeom>
          <a:solidFill>
            <a:srgbClr val="BED7E4"/>
          </a:solidFill>
          <a:ln w="10160">
            <a:solidFill>
              <a:srgbClr val="BED7E4"/>
            </a:solidFill>
            <a:prstDash val="solid"/>
          </a:ln>
        </p:spPr>
      </p:sp>
      <p:sp>
        <p:nvSpPr>
          <p:cNvPr id="12" name="column-1::10"/>
          <p:cNvSpPr/>
          <p:nvPr/>
        </p:nvSpPr>
        <p:spPr>
          <a:xfrm>
            <a:off x="841248" y="285292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D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 VRAGEN</a:t>
            </a:r>
            <a:endParaRPr lang="en-US" sz="1050" dirty="0"/>
          </a:p>
        </p:txBody>
      </p:sp>
      <p:sp>
        <p:nvSpPr>
          <p:cNvPr id="13" name="column-1::11"/>
          <p:cNvSpPr/>
          <p:nvPr/>
        </p:nvSpPr>
        <p:spPr>
          <a:xfrm>
            <a:off x="841248" y="324612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en proef.</a:t>
            </a:r>
            <a:endParaRPr lang="en-US" sz="2200" dirty="0"/>
          </a:p>
        </p:txBody>
      </p:sp>
      <p:sp>
        <p:nvSpPr>
          <p:cNvPr id="14" name="column-1::12"/>
          <p:cNvSpPr/>
          <p:nvPr/>
        </p:nvSpPr>
        <p:spPr>
          <a:xfrm>
            <a:off x="841248" y="3986784"/>
            <a:ext cx="301752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eigenaar en een tijdvak.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afgebakende proef.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expliciete beslisvraag.</a:t>
            </a:r>
            <a:endParaRPr lang="en-US" sz="1700" dirty="0"/>
          </a:p>
        </p:txBody>
      </p:sp>
      <p:sp>
        <p:nvSpPr>
          <p:cNvPr id="15" name="column-2::13"/>
          <p:cNvSpPr/>
          <p:nvPr/>
        </p:nvSpPr>
        <p:spPr>
          <a:xfrm>
            <a:off x="4389120" y="2633472"/>
            <a:ext cx="3419856" cy="2688336"/>
          </a:xfrm>
          <a:prstGeom prst="rect">
            <a:avLst/>
          </a:prstGeom>
          <a:solidFill>
            <a:srgbClr val="F3F6F8"/>
          </a:solidFill>
          <a:ln w="10160">
            <a:solidFill>
              <a:srgbClr val="F3F6F8"/>
            </a:solidFill>
            <a:prstDash val="solid"/>
          </a:ln>
        </p:spPr>
      </p:sp>
      <p:sp>
        <p:nvSpPr>
          <p:cNvPr id="16" name="column-2::14"/>
          <p:cNvSpPr/>
          <p:nvPr/>
        </p:nvSpPr>
        <p:spPr>
          <a:xfrm>
            <a:off x="4389120" y="2633472"/>
            <a:ext cx="3419856" cy="36576"/>
          </a:xfrm>
          <a:prstGeom prst="rect">
            <a:avLst/>
          </a:prstGeom>
          <a:solidFill>
            <a:srgbClr val="BED7E4"/>
          </a:solidFill>
          <a:ln w="10160">
            <a:solidFill>
              <a:srgbClr val="BED7E4"/>
            </a:solidFill>
            <a:prstDash val="solid"/>
          </a:ln>
        </p:spPr>
      </p:sp>
      <p:sp>
        <p:nvSpPr>
          <p:cNvPr id="17" name="column-2::15"/>
          <p:cNvSpPr/>
          <p:nvPr/>
        </p:nvSpPr>
        <p:spPr>
          <a:xfrm>
            <a:off x="4590288" y="285292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D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EERST LEREN</a:t>
            </a:r>
            <a:endParaRPr lang="en-US" sz="1050" dirty="0"/>
          </a:p>
        </p:txBody>
      </p:sp>
      <p:sp>
        <p:nvSpPr>
          <p:cNvPr id="18" name="column-2::16"/>
          <p:cNvSpPr/>
          <p:nvPr/>
        </p:nvSpPr>
        <p:spPr>
          <a:xfrm>
            <a:off x="4590288" y="324612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Toets de aannames.</a:t>
            </a:r>
            <a:endParaRPr lang="en-US" sz="2200" dirty="0"/>
          </a:p>
        </p:txBody>
      </p:sp>
      <p:sp>
        <p:nvSpPr>
          <p:cNvPr id="19" name="column-2::17"/>
          <p:cNvSpPr/>
          <p:nvPr/>
        </p:nvSpPr>
        <p:spPr>
          <a:xfrm>
            <a:off x="4590288" y="3986784"/>
            <a:ext cx="301752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klantvertraging.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fouten en herstel.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Onderzoek inspanning en kosten.</a:t>
            </a:r>
            <a:endParaRPr lang="en-US" sz="1700" dirty="0"/>
          </a:p>
        </p:txBody>
      </p:sp>
      <p:sp>
        <p:nvSpPr>
          <p:cNvPr id="20" name="column-3::18"/>
          <p:cNvSpPr/>
          <p:nvPr/>
        </p:nvSpPr>
        <p:spPr>
          <a:xfrm>
            <a:off x="8138160" y="2633472"/>
            <a:ext cx="3419856" cy="2688336"/>
          </a:xfrm>
          <a:prstGeom prst="rect">
            <a:avLst/>
          </a:prstGeom>
          <a:solidFill>
            <a:srgbClr val="F3F6F8"/>
          </a:solidFill>
          <a:ln w="10160">
            <a:solidFill>
              <a:srgbClr val="F3F6F8"/>
            </a:solidFill>
            <a:prstDash val="solid"/>
          </a:ln>
        </p:spPr>
      </p:sp>
      <p:sp>
        <p:nvSpPr>
          <p:cNvPr id="21" name="column-3::19"/>
          <p:cNvSpPr/>
          <p:nvPr/>
        </p:nvSpPr>
        <p:spPr>
          <a:xfrm>
            <a:off x="8138160" y="2633472"/>
            <a:ext cx="3419856" cy="36576"/>
          </a:xfrm>
          <a:prstGeom prst="rect">
            <a:avLst/>
          </a:prstGeom>
          <a:solidFill>
            <a:srgbClr val="BED7E4"/>
          </a:solidFill>
          <a:ln w="10160">
            <a:solidFill>
              <a:srgbClr val="BED7E4"/>
            </a:solidFill>
            <a:prstDash val="solid"/>
          </a:ln>
        </p:spPr>
      </p:sp>
      <p:sp>
        <p:nvSpPr>
          <p:cNvPr id="22" name="column-3::20"/>
          <p:cNvSpPr/>
          <p:nvPr/>
        </p:nvSpPr>
        <p:spPr>
          <a:xfrm>
            <a:off x="8339328" y="285292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D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 BESLISSEN</a:t>
            </a:r>
            <a:endParaRPr lang="en-US" sz="1050" dirty="0"/>
          </a:p>
        </p:txBody>
      </p:sp>
      <p:sp>
        <p:nvSpPr>
          <p:cNvPr id="23" name="column-3::21"/>
          <p:cNvSpPr/>
          <p:nvPr/>
        </p:nvSpPr>
        <p:spPr>
          <a:xfrm>
            <a:off x="8339328" y="324612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Kies de vervolgstap.</a:t>
            </a:r>
            <a:endParaRPr lang="en-US" sz="2200" dirty="0"/>
          </a:p>
        </p:txBody>
      </p:sp>
      <p:sp>
        <p:nvSpPr>
          <p:cNvPr id="24" name="column-3::22"/>
          <p:cNvSpPr/>
          <p:nvPr/>
        </p:nvSpPr>
        <p:spPr>
          <a:xfrm>
            <a:off x="8339328" y="3986784"/>
            <a:ext cx="301752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Doorgaan, aanpassen of stoppen.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en fasering expliciet.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Maak de keuze omkeerbaar.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Een actueler klantbeeld</dc:title>
  <dc:subject>PptxGenJS Presentation</dc:subject>
  <dc:creator>AH Architecture Decision Slides</dc:creator>
  <cp:lastModifiedBy>AH Architecture Decision Slides</cp:lastModifiedBy>
  <cp:revision>1</cp:revision>
  <dcterms:created xsi:type="dcterms:W3CDTF">2026-10-21T18:29:52Z</dcterms:created>
  <dcterms:modified xsi:type="dcterms:W3CDTF">2026-10-21T18:29:52Z</dcterms:modified>
</cp:coreProperties>
</file>